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AWS Certified CloudOps Engineer – Associate (SOA-C03)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88136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CDD3DC"/>
                </a:solidFill>
                <a:latin typeface="Arial"/>
              </a:defRPr>
            </a:pPr>
            <a:r>
              <a:t>Focused exam preparation • realistic decision rules • all five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B4BCC8"/>
                </a:solidFill>
                <a:latin typeface="Arial"/>
              </a:defRPr>
            </a:pPr>
            <a:r>
              <a:t>SOA-C03 Exam Preparation •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Learn how AWS expects a CloudOps engineer to choose the BEST operational solution — not just which service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429000"/>
            <a:ext cx="104241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D2D8E1"/>
                </a:solidFill>
                <a:latin typeface="Arial"/>
              </a:defRPr>
            </a:pPr>
            <a:r>
              <a:t>Priority: monitoring • reliability • automation • security • networking • troubleshooting • cost-aware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Exam blueprint and study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3154679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Domain 1 — 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37943"/>
            <a:ext cx="3154679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Monitoring, logging, analysis, remediation,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325880"/>
            <a:ext cx="64008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44752"/>
            <a:ext cx="3154679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Domain 2 — 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37943"/>
            <a:ext cx="3154679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Reliability and business continuity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325880"/>
            <a:ext cx="64008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5" y="1444752"/>
            <a:ext cx="3154679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Domain 3 — 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1837943"/>
            <a:ext cx="3154679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Deployment, provisioning and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27889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27889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907791"/>
            <a:ext cx="3154679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Domain 4 — 16%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300984"/>
            <a:ext cx="3154679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Security and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27889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27889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907791"/>
            <a:ext cx="3154679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Domain 5 — 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300984"/>
            <a:ext cx="3154679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Networking and content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1033272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Domains 1–3 = 66% of scored content. Master them first.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Security and networking also appear inside cross-domain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High-priority preparation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20574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P0 —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37943"/>
            <a:ext cx="3200400" cy="14356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CloudWatch / CloudTrail / Config</a:t>
            </a:r>
            <a:br/>
            <a:r>
              <a:t>Systems Manager</a:t>
            </a:r>
            <a:br/>
            <a:r>
              <a:t>Auto Scaling + ELB</a:t>
            </a:r>
            <a:br/>
            <a:r>
              <a:t>RDS HA &amp; recovery</a:t>
            </a:r>
            <a:br/>
            <a:r>
              <a:t>CloudFormation</a:t>
            </a:r>
            <a:br/>
            <a:r>
              <a:t>VPC routing +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32588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325880"/>
            <a:ext cx="64008" cy="205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44475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P1 — Strong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837943"/>
            <a:ext cx="3200400" cy="14356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S3 / EBS / EFS / Backup</a:t>
            </a:r>
            <a:br/>
            <a:r>
              <a:t>Route 53 / CloudFront</a:t>
            </a:r>
            <a:br/>
            <a:r>
              <a:t>IAM / KMS / Secrets</a:t>
            </a:r>
            <a:br/>
            <a:r>
              <a:t>GuardDuty / Inspector</a:t>
            </a:r>
            <a:br/>
            <a:r>
              <a:t>SQS / SNS / EventBridge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712" y="132588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82712" y="1325880"/>
            <a:ext cx="64008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44475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P2 — Know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1837943"/>
            <a:ext cx="3200400" cy="14356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ECS / EKS / ECR</a:t>
            </a:r>
            <a:br/>
            <a:r>
              <a:t>Compute Optimizer</a:t>
            </a:r>
            <a:br/>
            <a:r>
              <a:t>Cost Explorer</a:t>
            </a:r>
            <a:br/>
            <a:r>
              <a:t>Storage Gateway / DataSync</a:t>
            </a:r>
            <a:br/>
            <a:r>
              <a:t>PrivateLink / Transit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332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Spend more time comparing similar services than memorizing definitions.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1 — Monitoring, logging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CloudWatch: metrics, alarms, dashboards, Logs, Logs Insights, agent, anomaly detection.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CloudTrail: who performed an AWS API action, when, and from where.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AWS Config: configuration history, compliance and resource relationships.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VPC Flow Logs: observed network-flow metadata and ACCEPT/REJECT.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Reachability Analyzer: analyze whether network configuration permits a path.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X-Ray: distributed tracing; Synthetics: scheduled user/API journeys.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Application Signals: service health, dependencies and SLO-oriented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1 — exam clues you should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1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Guest OS memory / disk /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49377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CloudWatch Agent + appropriate IAM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801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801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99031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Pattern in log should trigger alarm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49377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CloudWatch Logs → metric filter → alarm.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743200"/>
            <a:ext cx="64008" cy="123444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62072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Who changed the resource?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49377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CloudTrail. For configuration history, add AWS Config.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7432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2743200"/>
            <a:ext cx="64008" cy="12344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862072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Top source IP / contributor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255264"/>
            <a:ext cx="49377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Contributor Insights or log analysis, depending on scenario.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332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Troubleshooting rule: follow the saturated or failing metric instead of scaling an unrelated tier.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1 — troubleshooting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ALB Target 5XX rising → investigate application targets.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ALB ELB 5XX rising → investigate load-balancer-side errors.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EC2 system status check failure → underlying AWS infrastructure.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EC2 instance status check failure → guest OS/network configuration.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SQS ApproximateAgeOfOldestMessage → processing delay/backlog.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EBS throughput saturated but IOPS low → tune throughput, not IOPS.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CloudWatch anomaly detection → changing baseline with unusual deviation.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2 — Reliability and business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Auto Scaling: target tracking, step scaling, scheduled scaling, health checks, instance refresh.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RDS/Aurora: Multi-AZ, replicas, backups, PITR, failover.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Storage recovery: EBS snapshots, S3 Versioning/replication/Object Lock, EFS.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AWS Backup: plans, retention, vault controls and recovery-point isolation.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Remove hidden single-AZ dependencies: compute, database, storage and NAT egress.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Know RTO/RPO trade-offs for backup/restore, pilot light, warm standby and active/active.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Disaster recovery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6974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64008" cy="2651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2377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Backup &amp;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37943"/>
            <a:ext cx="2377440" cy="20299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Lowest steady-state cost</a:t>
            </a:r>
            <a:br/>
            <a:r>
              <a:t>Highest recovery time</a:t>
            </a:r>
            <a:br/>
            <a:r>
              <a:t>Rebuild after disaster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325880"/>
            <a:ext cx="26974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1568" y="1325880"/>
            <a:ext cx="64008" cy="2651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444752"/>
            <a:ext cx="2377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Pilot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837943"/>
            <a:ext cx="2377440" cy="20299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Core services/data running</a:t>
            </a:r>
            <a:br/>
            <a:r>
              <a:t>Provision/scale remaining stack during 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325880"/>
            <a:ext cx="26974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325880"/>
            <a:ext cx="64008" cy="265176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444752"/>
            <a:ext cx="2377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Warm Standby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837943"/>
            <a:ext cx="2377440" cy="20299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Fully functional at reduced capacity</a:t>
            </a:r>
            <a:br/>
            <a:r>
              <a:t>Scale up during 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132588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5984" y="1325880"/>
            <a:ext cx="64008" cy="265176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1444752"/>
            <a:ext cx="2240279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Active/Active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1837943"/>
            <a:ext cx="2240279" cy="20299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Both environments serve traffic</a:t>
            </a:r>
            <a:br/>
            <a:r>
              <a:t>Lowest RTO</a:t>
            </a:r>
            <a:br/>
            <a:r>
              <a:t>Highest cost/complexity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106984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Keywords: core only = pilot light • reduced but functional = warm standby • both serving = active/active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2 — scaling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Predictable daily schedule → Scheduled Scaling.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Keep CPU or another metric near a target → Target Tracking.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Different capacity additions for different threshold bands → Step Scaling.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Roll existing ASG instances to a new launch-template/AMI version → Instance Refresh.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Application can fail while EC2 remains healthy → use load-balancer health checks with Auto Scaling.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RDS Multi-AZ = availability; Read Replica = read scaling.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Private-subnet egress resilience → NAT Gateway per AZ with local routing.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3 — Deployment, provisioning and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CloudFormation / CDK: infrastructure as code and repeatable deployment.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Systems Manager: fleet operations, access, patching, configuration and automation.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EC2 Image Builder: automated hardened AMI build/test/distribution.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EC2 user data: first-boot bootstrap.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EventBridge: event routing and schedules.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SQS/SNS: decoupling and fan-out.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Step Functions: stateful workflow orchestration with branching/retries.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ECS/EKS/ECR: container operations; Fargate reduces host-management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Systems Manager — memorize the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Run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4650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Execute commands across managed nodes. No SSH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123444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Session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4650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Interactive administration without inbound SSH or SSH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64008" cy="11430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174650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Multi-step operational runbooks and remediation.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651760"/>
            <a:ext cx="64008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77063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State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16382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Continuously maintain desired configuration.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5112" y="265176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77063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Patch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16382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Patch baselines, deployment and compliance.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0144" y="2651760"/>
            <a:ext cx="64008" cy="11430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277063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Maintenance 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316382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Run approved tasks during scheduled windows.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406908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5112" y="4069080"/>
            <a:ext cx="64008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18795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Parameter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58114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Hierarchical configuration; SecureString for KMS-encrypted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CloudFormation — high-yield feature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Preview what WILL change → Change Set.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Find what HAS changed outside the template → Drift Detection.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Deploy the same baseline across accounts/Regions → StackSets.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Reusable modular child templates → Nested Stacks.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Protect selected resources during stack updates → Stack Policy.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Wait for successful bootstrap → CreationPolicy/resource signaling where supported.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Failed update → understand rollback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4 — Security and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IAM roles and temporary credentials; least privilege; explicit Deny.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SCPs: organization-level permission guardrails.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Permissions boundaries: maximum identity-policy permissions.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KMS: IAM permission and key-policy authorization both matter.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Secrets Manager: secrets and rotation; Parameter Store SecureString: encrypted configuration.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S3 Block Public Access, bucket policies, encryption and Object Lock.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AWS Config: compliance; Config + SSM Automation: remediation.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Security services — avoid these exam traps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12344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GuardDuty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1089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Managed threat detection and suspicious-activity findings.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6400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9903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Inspector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92224"/>
            <a:ext cx="31089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Vulnerability and CVE management for supported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9903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Security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792224"/>
            <a:ext cx="31089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Central aggregation and security posture.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88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88920"/>
            <a:ext cx="64008" cy="123444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0779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AWS WAF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00984"/>
            <a:ext cx="31089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Layer 7 HTTP(S) filtering: SQLi, XSS, IP/rate rules.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788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788920"/>
            <a:ext cx="64008" cy="12344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90779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AWS Shield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00984"/>
            <a:ext cx="31089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DDoS protection; Shield Advanced for enhanced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788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788920"/>
            <a:ext cx="6400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290779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IAM Access Analyzer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300984"/>
            <a:ext cx="310896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Analyze access and refine toward least privilege.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Domain 5 — Networking and content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Public/private subnets, route tables, Internet Gateway and NAT Gateway.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Security groups are stateful; NACLs are stateless.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Gateway endpoints: S3/DynamoDB. Interface endpoints: PrivateLink-based service access.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VPC Peering vs Transit Gateway.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Route 53 routing policies and aliases.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ALB vs NLB; ACM for supported TLS termination.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CloudFront vs Global Accelerator.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Site-to-Site VPN and Direct Connect concepts.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Route 53 Resolver inbound/outbound endpoints.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Flow Logs + Reachability Analyzer for troubleshooting.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Networking — high-yield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Security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4650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Stateful • ENI/resource level • allow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1234440"/>
            <a:ext cx="64008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Network 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4650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Stateless • subnet level • allow and deny.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64008" cy="11430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Route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174650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Selects next hop; not a firewall.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65176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77063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Gateway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16382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Private S3/DynamoDB access; route-table based.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5112" y="2651760"/>
            <a:ext cx="64008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77063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Interface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16382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PrivateLink ENIs for supported AWS/service APIs.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0144" y="2651760"/>
            <a:ext cx="64008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277063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NAT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3163824"/>
            <a:ext cx="320040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Outbound internet for private IPv4 workloads.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51960"/>
            <a:ext cx="105156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Cost clue: private S3 access normally favors a Gateway Endpoint over NAT Gateway.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Route 53, load balancing and edge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Weighted → percentage/canary traffic split.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Latency → lowest network-latency Region.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Failover → primary/secondary active-passive.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Geolocation → route by user's geographic origin.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Alias → supported AWS targets and zone apex.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ALB → HTTP/HTTPS host/path routing.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NLB → Layer 4, high connection scale, static-IP characteristics.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CloudFront → CDN and edge caching.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Global Accelerator → static anycast IPs and global TCP/UDP acceleration; no caching.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Storage — select by access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1463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EBS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108960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AZ-scoped block storage for EC2.</a:t>
            </a:r>
            <a:br/>
            <a:r>
              <a:t>Snapshots for recovery/copy.</a:t>
            </a:r>
            <a:br/>
            <a:r>
              <a:t>gp3: independent IOPS/throughput 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9903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92224"/>
            <a:ext cx="3108960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Managed shared POSIX/NFS file system.</a:t>
            </a:r>
            <a:br/>
            <a:r>
              <a:t>Useful for concurrent Linux access across AZs.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64008" cy="146304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99031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792224"/>
            <a:ext cx="3108960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Object storage.</a:t>
            </a:r>
            <a:br/>
            <a:r>
              <a:t>Versioning, lifecycle, replication, Object Lock and policies.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54680"/>
            <a:ext cx="64008" cy="14630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3273552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AWS Backup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666744"/>
            <a:ext cx="3108960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Central backup plans, retention, vaults and supported copies.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15468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273552"/>
            <a:ext cx="31089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FSx / Storage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66744"/>
            <a:ext cx="3108960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Know specialized managed file systems and hybrid-storage use cases.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Database and caching — operational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RDS Multi-AZ → high availability/failover.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Read Replica → read scaling; cross-Region replica can support DR designs.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Automated backups → point-in-time recovery within retention.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RDS Proxy → connection pooling/management for supported RDS/Aurora.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Aurora → replicas, failover and Serverless v2 operational use cases.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DynamoDB → capacity, throttling, backup/PITR; DAX for compatible in-memory acceleration.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ElastiCache → managed in-memory caching to reduce repeated database reads.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Cost and 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Compute Optimizer → rightsizing recommendations.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Cost Explorer → historical cost analysis.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Cost and Usage Reports → detailed cost/usage records.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Use dynamic scaling instead of permanent overprovisioning.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Use service endpoints when they avoid unnecessary NAT processing.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Choose storage performance and class from the workload access pattern.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MOST cost-effective means the cheapest solution that still satisfies every requirement.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How to answer MOST / LEAST / BEST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Identify the PRIMARY requirement: security, cost, availability, performance, recovery or operations.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Find constraints: private, no SSH, no long-lived credentials, multi-account, cross-Region, RTO/RPO.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Eliminate answers that solve a different problem.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LEAST operational overhead → prefer managed/native AWS capabilities.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MOST secure → prefer least privilege, temporary credentials and smaller exposure.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MOST cost-effective → satisfy all requirements first, then choose the simpler/cheaper design.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Troubleshooting → use the evidence and address root cause.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Common exam traps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Multi-AZ vs Read Replica.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CloudWatch vs CloudTrail vs AWS Config.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Security Group vs NACL.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Gateway Endpoint vs Interface Endpoint vs NAT Gateway.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CloudFront vs Global Accelerator.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Run Command vs Session Manager vs Automation vs State Manager.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Change Set vs Drift Detection vs StackSets.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GuardDuty vs Inspector vs Security Hub.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Pilot Light vs Warm Standby.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S3 Versioning vs Object Lock.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Realistic high-priority question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CPU is low but DB connections/waits are high — identify the real bottleneck.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Private EC2 needs AWS API access — endpoint, NAT or public internet?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Application is unhealthy while EC2 is healthy — which health check should ASG trust?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Who changed a security group and what was the previous configuration?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Deploy one baseline across many accounts and Regions.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Interactive administration without SSH keys or inbound port 22.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Choose DR design from RTO/RPO and cost language.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Prevent an action even when a member-account IAM policy allows it.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Diagnose NACL return-traffic failure caused by ephemeral ports.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Seven-day final revision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1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4008" cy="6858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48920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89204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Domain 1: CloudWatch, CloudTrail, Config, troubleshooting.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64008" cy="6858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48920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46504"/>
            <a:ext cx="489204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Domain 2: ASG, ELB, RDS/Aurora, backup, DR.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21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64008" cy="6858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67712"/>
            <a:ext cx="48920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60904"/>
            <a:ext cx="489204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Domain 3: Systems Manager, CloudFormation, automation.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48840"/>
            <a:ext cx="521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4884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48920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60904"/>
            <a:ext cx="489204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Domain 5: VPC, endpoints, DNS, ELB, hybrid.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63240"/>
            <a:ext cx="521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06324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182112"/>
            <a:ext cx="48920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75304"/>
            <a:ext cx="489204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Domain 4: IAM, KMS, S3 security, security services.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63240"/>
            <a:ext cx="521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063240"/>
            <a:ext cx="6400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182112"/>
            <a:ext cx="48920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Day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75304"/>
            <a:ext cx="489204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Full timed mock; review wrong AND guessed answers.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160520"/>
            <a:ext cx="521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4160520"/>
            <a:ext cx="64008" cy="6858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4279392"/>
            <a:ext cx="48920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Day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672583"/>
            <a:ext cx="489204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Weak-area revision + comparison tables + light mock.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rial"/>
              </a:defRPr>
            </a:pPr>
            <a:r>
              <a:t>Final memory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Arial"/>
              </a:defRPr>
            </a:pPr>
            <a:r>
              <a:t>SOA-C03 Exam Preparation •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0515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4650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CloudWatch • Logs Insights • X-Ray • Flow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23444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123444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Audit / Govern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4650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CloudTrail • Config • Organizations / SCP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64008" cy="105156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35331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Operate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174650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Systems Manager • Auto Scaling • AWS Backup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6032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560320"/>
            <a:ext cx="64008" cy="10515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679191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Provision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07238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CloudFormation / CDK • Image Builder • ECS/EKS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256032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5112" y="2560320"/>
            <a:ext cx="64008" cy="105156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679191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07238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IAM • KMS • WAF/Shield • GuardDuty/Inspector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256032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0144" y="256032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2679191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307238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VPC • Route 53 • ELB • Endpoints • TGW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8620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886200"/>
            <a:ext cx="64008" cy="105156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00507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Recover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39826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Snapshots • PITR • Multi-AZ • Replication • DR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5112" y="388620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5112" y="3886200"/>
            <a:ext cx="64008" cy="10515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400507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Optimize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39826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Compute Optimizer • Cost Explorer • scaling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388620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388620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3" y="4005072"/>
            <a:ext cx="3200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Arial"/>
              </a:defRPr>
            </a:pPr>
            <a:r>
              <a:t>Decouple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4398264"/>
            <a:ext cx="3200400" cy="4297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5A6574"/>
                </a:solidFill>
                <a:latin typeface="Arial"/>
              </a:defRPr>
            </a:pPr>
            <a:r>
              <a:t>SQS • SNS • EventBridge • Step Functions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Exam-day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88136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CDD3DC"/>
                </a:solidFill>
                <a:latin typeface="Arial"/>
              </a:defRPr>
            </a:pPr>
            <a:r>
              <a:t>Think like the engineer responsible for production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92240"/>
            <a:ext cx="10789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B4BCC8"/>
                </a:solidFill>
                <a:latin typeface="Arial"/>
              </a:defRPr>
            </a:pPr>
            <a:r>
              <a:t>SOA-C03 Exam Preparation •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3931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FFFFFF"/>
                </a:solidFill>
                <a:latin typeface="Arial"/>
              </a:defRPr>
            </a:pPr>
            <a:r>
              <a:t>• Read the requirement before the architecture details.</a:t>
            </a:r>
          </a:p>
          <a:p>
            <a:pPr>
              <a:spcAft>
                <a:spcPts val="700"/>
              </a:spcAft>
              <a:defRPr sz="2100">
                <a:solidFill>
                  <a:srgbClr val="FFFFFF"/>
                </a:solidFill>
                <a:latin typeface="Arial"/>
              </a:defRPr>
            </a:pPr>
            <a:r>
              <a:t>• Look for the clue that changes the answer.</a:t>
            </a:r>
          </a:p>
          <a:p>
            <a:pPr>
              <a:spcAft>
                <a:spcPts val="700"/>
              </a:spcAft>
              <a:defRPr sz="2100">
                <a:solidFill>
                  <a:srgbClr val="FFFFFF"/>
                </a:solidFill>
                <a:latin typeface="Arial"/>
              </a:defRPr>
            </a:pPr>
            <a:r>
              <a:t>• Prefer managed, automated, least-privilege and failure-aware designs.</a:t>
            </a:r>
          </a:p>
          <a:p>
            <a:pPr>
              <a:spcAft>
                <a:spcPts val="700"/>
              </a:spcAft>
              <a:defRPr sz="2100">
                <a:solidFill>
                  <a:srgbClr val="FFFFFF"/>
                </a:solidFill>
                <a:latin typeface="Arial"/>
              </a:defRPr>
            </a:pPr>
            <a:r>
              <a:t>• Do not confuse technically possible with BEST.</a:t>
            </a:r>
          </a:p>
          <a:p>
            <a:pPr>
              <a:spcAft>
                <a:spcPts val="700"/>
              </a:spcAft>
              <a:defRPr sz="2100">
                <a:solidFill>
                  <a:srgbClr val="FFFFFF"/>
                </a:solidFill>
                <a:latin typeface="Arial"/>
              </a:defRPr>
            </a:pPr>
            <a:r>
              <a:t>• Flag long questions, protect your time and answer every question.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